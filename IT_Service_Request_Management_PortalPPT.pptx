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8230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yourself and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Briefly explain the agenda.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purpose and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Discuss the problem solved.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Describe project goals.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how Flow Designer automates requests.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first business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second business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client-side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UI policy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Discuss notification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analytics generated by reports.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Demonstrate dashboard widgets.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Describe security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Mention testing scenarios executed.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Summarize project benefits.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Discuss future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GitHub repository contents.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Conclude the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654" y="1447801"/>
            <a:ext cx="8823360" cy="3329581"/>
          </a:xfrm>
        </p:spPr>
        <p:txBody>
          <a:bodyPr anchor="b"/>
          <a:lstStyle>
            <a:lvl1pPr>
              <a:defRPr sz="71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654" y="4777380"/>
            <a:ext cx="8823360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554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09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6" y="2861734"/>
            <a:ext cx="8823359" cy="1915647"/>
          </a:xfrm>
        </p:spPr>
        <p:txBody>
          <a:bodyPr anchor="b"/>
          <a:lstStyle>
            <a:lvl1pPr algn="l">
              <a:defRPr sz="39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654" y="4777381"/>
            <a:ext cx="8823360" cy="860400"/>
          </a:xfrm>
        </p:spPr>
        <p:txBody>
          <a:bodyPr anchor="t"/>
          <a:lstStyle>
            <a:lvl1pPr marL="0" indent="0" algn="l">
              <a:buNone/>
              <a:defRPr sz="1999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152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025" y="2060576"/>
            <a:ext cx="4395194" cy="4195763"/>
          </a:xfrm>
        </p:spPr>
        <p:txBody>
          <a:bodyPr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3021" y="2056093"/>
            <a:ext cx="4395196" cy="4200245"/>
          </a:xfrm>
        </p:spPr>
        <p:txBody>
          <a:bodyPr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115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026" y="1905000"/>
            <a:ext cx="4395193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025" y="2514600"/>
            <a:ext cx="4395194" cy="3741738"/>
          </a:xfrm>
        </p:spPr>
        <p:txBody>
          <a:bodyPr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3023" y="1905000"/>
            <a:ext cx="4395194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3023" y="2514600"/>
            <a:ext cx="4395194" cy="3741738"/>
          </a:xfrm>
        </p:spPr>
        <p:txBody>
          <a:bodyPr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240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375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874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2" y="1447800"/>
            <a:ext cx="3400178" cy="1447800"/>
          </a:xfrm>
        </p:spPr>
        <p:txBody>
          <a:bodyPr anchor="b"/>
          <a:lstStyle>
            <a:lvl1pPr algn="l">
              <a:defRPr sz="23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370" y="1447800"/>
            <a:ext cx="5194644" cy="4572000"/>
          </a:xfrm>
        </p:spPr>
        <p:txBody>
          <a:bodyPr anchor="ctr">
            <a:normAutofit/>
          </a:bodyPr>
          <a:lstStyle>
            <a:lvl1pPr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653" y="3129281"/>
            <a:ext cx="3400177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545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606" y="1854192"/>
            <a:ext cx="5091580" cy="1574808"/>
          </a:xfrm>
        </p:spPr>
        <p:txBody>
          <a:bodyPr anchor="b">
            <a:normAutofit/>
          </a:bodyPr>
          <a:lstStyle>
            <a:lvl1pPr algn="l">
              <a:defRPr sz="35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7736" y="1143000"/>
            <a:ext cx="3199567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654" y="3657600"/>
            <a:ext cx="5083655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999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6" y="4800587"/>
            <a:ext cx="8823359" cy="566738"/>
          </a:xfrm>
        </p:spPr>
        <p:txBody>
          <a:bodyPr anchor="b">
            <a:normAutofit/>
          </a:bodyPr>
          <a:lstStyle>
            <a:lvl1pPr algn="l">
              <a:defRPr sz="23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654" y="685800"/>
            <a:ext cx="8823360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655" y="5367325"/>
            <a:ext cx="882335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706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4" y="1447800"/>
            <a:ext cx="8823361" cy="1981200"/>
          </a:xfrm>
        </p:spPr>
        <p:txBody>
          <a:bodyPr/>
          <a:lstStyle>
            <a:lvl1pPr>
              <a:defRPr sz="47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654" y="3657600"/>
            <a:ext cx="8823361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799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8578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391" y="1447800"/>
            <a:ext cx="7997232" cy="2323374"/>
          </a:xfrm>
        </p:spPr>
        <p:txBody>
          <a:bodyPr/>
          <a:lstStyle>
            <a:lvl1pPr>
              <a:defRPr sz="47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29898" y="3771174"/>
            <a:ext cx="7277753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654" y="4350657"/>
            <a:ext cx="8823361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799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061" y="971253"/>
            <a:ext cx="801703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196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8060" y="2613787"/>
            <a:ext cx="801703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196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236594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3" y="3124201"/>
            <a:ext cx="8823362" cy="1653180"/>
          </a:xfrm>
        </p:spPr>
        <p:txBody>
          <a:bodyPr anchor="b"/>
          <a:lstStyle>
            <a:lvl1pPr algn="l">
              <a:defRPr sz="39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654" y="4777381"/>
            <a:ext cx="8823361" cy="860400"/>
          </a:xfrm>
        </p:spPr>
        <p:txBody>
          <a:bodyPr anchor="t"/>
          <a:lstStyle>
            <a:lvl1pPr marL="0" indent="0" algn="l">
              <a:buNone/>
              <a:defRPr sz="1999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2205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782" y="1981200"/>
            <a:ext cx="2946099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293" y="2667000"/>
            <a:ext cx="292658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2648" y="1981200"/>
            <a:ext cx="2935476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2097" y="2667000"/>
            <a:ext cx="2946027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2845" y="1981200"/>
            <a:ext cx="2931349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2845" y="2667000"/>
            <a:ext cx="2931349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517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0414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0081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293" y="4250949"/>
            <a:ext cx="2939284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293" y="2209800"/>
            <a:ext cx="2939284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293" y="4827212"/>
            <a:ext cx="2939284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8363" y="4250949"/>
            <a:ext cx="2929762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8362" y="2209800"/>
            <a:ext cx="292976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7009" y="4827211"/>
            <a:ext cx="293364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2845" y="4250949"/>
            <a:ext cx="2931349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2844" y="2209800"/>
            <a:ext cx="2931349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2720" y="4827209"/>
            <a:ext cx="293523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517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0414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8622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9976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2050" y="430214"/>
            <a:ext cx="1752145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294" y="887414"/>
            <a:ext cx="7421216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143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6"/>
            <a:ext cx="4035961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8"/>
            <a:ext cx="1522016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6770" y="1676400"/>
            <a:ext cx="2818666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7330" y="1"/>
            <a:ext cx="1602969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3637" y="6096000"/>
            <a:ext cx="993475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5094" y="0"/>
            <a:ext cx="685621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5943" y="452718"/>
            <a:ext cx="9402274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025" y="2052919"/>
            <a:ext cx="894421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2866" y="1790741"/>
            <a:ext cx="990599" cy="30472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48740" y="3225337"/>
            <a:ext cx="3859795" cy="30472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49844" y="295730"/>
            <a:ext cx="837981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799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5820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l" defTabSz="457063" rtl="0" eaLnBrk="1" latinLnBrk="0" hangingPunct="1">
        <a:spcBef>
          <a:spcPct val="0"/>
        </a:spcBef>
        <a:buNone/>
        <a:defRPr sz="4199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797" indent="-342797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999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727" indent="-285664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799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2657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599720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6783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5248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0908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7971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5034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114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475488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IT Service Request Management Portal</a:t>
            </a:r>
          </a:p>
        </p:txBody>
      </p:sp>
      <p:pic>
        <p:nvPicPr>
          <p:cNvPr id="5" name="Picture 4" descr="01_Application_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822960"/>
            <a:ext cx="603504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114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475488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dirty="0"/>
              <a:t>Project Overview</a:t>
            </a:r>
          </a:p>
          <a:p>
            <a:pPr>
              <a:defRPr sz="2000"/>
            </a:pPr>
            <a:r>
              <a:rPr dirty="0"/>
              <a:t>Problem Statement</a:t>
            </a:r>
          </a:p>
          <a:p>
            <a:pPr>
              <a:defRPr sz="2000"/>
            </a:pPr>
            <a:r>
              <a:rPr dirty="0"/>
              <a:t>Objectives</a:t>
            </a:r>
          </a:p>
          <a:p>
            <a:pPr>
              <a:defRPr sz="2000"/>
            </a:pPr>
            <a:r>
              <a:rPr dirty="0"/>
              <a:t>Architecture</a:t>
            </a:r>
          </a:p>
          <a:p>
            <a:pPr>
              <a:defRPr sz="2000"/>
            </a:pPr>
            <a:r>
              <a:rPr dirty="0"/>
              <a:t>Implementation</a:t>
            </a:r>
          </a:p>
          <a:p>
            <a:pPr>
              <a:defRPr sz="2000"/>
            </a:pPr>
            <a:r>
              <a:rPr dirty="0"/>
              <a:t>Reports</a:t>
            </a:r>
          </a:p>
          <a:p>
            <a:pPr>
              <a:defRPr sz="2000"/>
            </a:pPr>
            <a:r>
              <a:rPr dirty="0"/>
              <a:t>Dashboard</a:t>
            </a:r>
          </a:p>
          <a:p>
            <a:pPr>
              <a:defRPr sz="2000"/>
            </a:pPr>
            <a:r>
              <a:rPr dirty="0"/>
              <a:t>Security</a:t>
            </a:r>
          </a:p>
          <a:p>
            <a:pPr>
              <a:defRPr sz="2000"/>
            </a:pPr>
            <a:r>
              <a:rPr dirty="0"/>
              <a:t>Testing</a:t>
            </a:r>
          </a:p>
          <a:p>
            <a:pPr>
              <a:defRPr sz="2000"/>
            </a:pPr>
            <a:r>
              <a:rPr dirty="0"/>
              <a:t>Conclusion</a:t>
            </a:r>
          </a:p>
        </p:txBody>
      </p:sp>
      <p:pic>
        <p:nvPicPr>
          <p:cNvPr id="5" name="Picture 4" descr="01_Application_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822960"/>
            <a:ext cx="603504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114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423367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rPr dirty="0"/>
              <a:t>Automates IT service requests using ServiceNow.</a:t>
            </a:r>
          </a:p>
          <a:p>
            <a:pPr>
              <a:defRPr sz="2000"/>
            </a:pPr>
            <a:r>
              <a:rPr dirty="0"/>
              <a:t>Features include workflows, notifications, reports, dashboards and ACLs.</a:t>
            </a:r>
          </a:p>
        </p:txBody>
      </p:sp>
      <p:pic>
        <p:nvPicPr>
          <p:cNvPr id="5" name="Picture 4" descr="02_Service_Request_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822960"/>
            <a:ext cx="603504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114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413308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rPr dirty="0"/>
              <a:t>Manual request management is slow and lacks transparency.</a:t>
            </a:r>
          </a:p>
        </p:txBody>
      </p:sp>
      <p:pic>
        <p:nvPicPr>
          <p:cNvPr id="5" name="Picture 4" descr="03_Service_Request_F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822960"/>
            <a:ext cx="603504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114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475488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Automate requests</a:t>
            </a:r>
          </a:p>
          <a:p>
            <a:pPr>
              <a:defRPr sz="2000"/>
            </a:pPr>
            <a:r>
              <a:t>• Track status</a:t>
            </a:r>
          </a:p>
          <a:p>
            <a:pPr>
              <a:defRPr sz="2000"/>
            </a:pPr>
            <a:r>
              <a:t>• Notify users</a:t>
            </a:r>
          </a:p>
          <a:p>
            <a:pPr>
              <a:defRPr sz="2000"/>
            </a:pPr>
            <a:r>
              <a:t>• Secure access</a:t>
            </a:r>
          </a:p>
        </p:txBody>
      </p:sp>
      <p:pic>
        <p:nvPicPr>
          <p:cNvPr id="5" name="Picture 4" descr="04_Flow_Desig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822960"/>
            <a:ext cx="603504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114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Flow Designer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3886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rPr dirty="0"/>
              <a:t>Workflow automates record processing and notifications.</a:t>
            </a:r>
          </a:p>
        </p:txBody>
      </p:sp>
      <p:pic>
        <p:nvPicPr>
          <p:cNvPr id="5" name="Picture 4" descr="04_Flow_Desig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822960"/>
            <a:ext cx="603504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114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Business Rule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475488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Implements server-side validation.</a:t>
            </a:r>
          </a:p>
        </p:txBody>
      </p:sp>
      <p:pic>
        <p:nvPicPr>
          <p:cNvPr id="5" name="Picture 4" descr="05_Business_Rul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822960"/>
            <a:ext cx="603504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114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Business Rule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42793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rPr dirty="0"/>
              <a:t>Additional automation and business logic.</a:t>
            </a:r>
          </a:p>
        </p:txBody>
      </p:sp>
      <p:pic>
        <p:nvPicPr>
          <p:cNvPr id="5" name="Picture 4" descr="06_Business_Rul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822960"/>
            <a:ext cx="603504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114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Client 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36210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rPr dirty="0"/>
              <a:t>Client-side validation and dynamic behavior.</a:t>
            </a:r>
          </a:p>
        </p:txBody>
      </p:sp>
      <p:pic>
        <p:nvPicPr>
          <p:cNvPr id="5" name="Picture 4" descr="07_Client_Script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822960"/>
            <a:ext cx="603504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114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UI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475488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Dynamic mandatory/read-only fields.</a:t>
            </a:r>
          </a:p>
        </p:txBody>
      </p:sp>
      <p:pic>
        <p:nvPicPr>
          <p:cNvPr id="5" name="Picture 4" descr="10_UI_Poli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822960"/>
            <a:ext cx="603504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114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Notifications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355701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rPr dirty="0"/>
              <a:t>Automatic emails for Submitted, Approved and Assigned requests.</a:t>
            </a:r>
          </a:p>
        </p:txBody>
      </p:sp>
      <p:pic>
        <p:nvPicPr>
          <p:cNvPr id="5" name="Picture 4" descr="12_Notification_Approv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822960"/>
            <a:ext cx="603504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114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48646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rPr dirty="0"/>
              <a:t>Status, Priority, Department, Monthly Requests, Technician Workload.</a:t>
            </a:r>
          </a:p>
        </p:txBody>
      </p:sp>
      <p:pic>
        <p:nvPicPr>
          <p:cNvPr id="5" name="Picture 4" descr="18_Requests_by_Stat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822960"/>
            <a:ext cx="603504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114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475488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Central monitoring dashboard.</a:t>
            </a:r>
          </a:p>
        </p:txBody>
      </p:sp>
      <p:pic>
        <p:nvPicPr>
          <p:cNvPr id="5" name="Picture 4" descr="20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822960"/>
            <a:ext cx="603504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114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ACLs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47640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Role-based access for Employee, Technician, Manager and Admin.</a:t>
            </a:r>
          </a:p>
        </p:txBody>
      </p:sp>
      <p:pic>
        <p:nvPicPr>
          <p:cNvPr id="5" name="Picture 4" descr="14_ACLs_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822960"/>
            <a:ext cx="603504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114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408736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rPr dirty="0"/>
              <a:t>Verified workflows, notifications, reports and dashboards.</a:t>
            </a:r>
          </a:p>
        </p:txBody>
      </p:sp>
      <p:pic>
        <p:nvPicPr>
          <p:cNvPr id="5" name="Picture 4" descr="20_dashboard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822960"/>
            <a:ext cx="603504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114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395935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rPr dirty="0"/>
              <a:t>Improved efficiency, tracking and automation.</a:t>
            </a:r>
          </a:p>
        </p:txBody>
      </p:sp>
      <p:pic>
        <p:nvPicPr>
          <p:cNvPr id="5" name="Picture 4" descr="20_dashboard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822960"/>
            <a:ext cx="603504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114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4178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CMDB, SLA, Knowledge Base, Virtual Agent, Mobile App.</a:t>
            </a:r>
          </a:p>
        </p:txBody>
      </p:sp>
      <p:pic>
        <p:nvPicPr>
          <p:cNvPr id="5" name="Picture 4" descr="20_dashboard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822960"/>
            <a:ext cx="603504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114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GitHub 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435254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README, Screenshots, Documentation and Update Set uploaded.</a:t>
            </a:r>
          </a:p>
        </p:txBody>
      </p:sp>
      <p:pic>
        <p:nvPicPr>
          <p:cNvPr id="5" name="Picture 4" descr="01_Application_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822960"/>
            <a:ext cx="603504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114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43251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Project successfully developed using ServiceNow best practices.</a:t>
            </a:r>
          </a:p>
        </p:txBody>
      </p:sp>
      <p:pic>
        <p:nvPicPr>
          <p:cNvPr id="5" name="Picture 4" descr="20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822960"/>
            <a:ext cx="603504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114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/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05256"/>
            <a:ext cx="475488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dirty="0"/>
              <a:t>Questions &amp; Answers</a:t>
            </a:r>
          </a:p>
        </p:txBody>
      </p:sp>
      <p:pic>
        <p:nvPicPr>
          <p:cNvPr id="5" name="Picture 4" descr="01_Application_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822960"/>
            <a:ext cx="6035040" cy="5120640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</TotalTime>
  <Words>300</Words>
  <Application>Microsoft Office PowerPoint</Application>
  <PresentationFormat>Custom</PresentationFormat>
  <Paragraphs>73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Century Gothic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PULI AMRUTHA</dc:creator>
  <cp:keywords/>
  <dc:description>generated using python-pptx</dc:description>
  <cp:lastModifiedBy>PULI AMRUTHA</cp:lastModifiedBy>
  <cp:revision>2</cp:revision>
  <dcterms:created xsi:type="dcterms:W3CDTF">2013-01-27T09:14:16Z</dcterms:created>
  <dcterms:modified xsi:type="dcterms:W3CDTF">2026-07-02T12:22:49Z</dcterms:modified>
  <cp:category/>
</cp:coreProperties>
</file>